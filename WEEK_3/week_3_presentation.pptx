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94D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Predicting Adverse Drug Reaction Severity</a:t>
            </a:r>
          </a:p>
          <a:p>
            <a:pPr>
              <a:spcBef>
                <a:spcPts val="1500"/>
              </a:spcBef>
              <a:defRPr sz="2000">
                <a:solidFill>
                  <a:srgbClr val="94D2BD"/>
                </a:solidFill>
                <a:latin typeface="Segoe UI"/>
              </a:defRPr>
            </a:pPr>
            <a:r>
              <a:t>An Interpretable Decision Tree ML Pipeline on openFDA Data</a:t>
            </a:r>
          </a:p>
          <a:p>
            <a:pPr>
              <a:spcBef>
                <a:spcPts val="45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AIML Immersion Course  |  Week 3 Assignment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5F73"/>
                </a:solidFill>
                <a:latin typeface="Segoe UI"/>
              </a:defRPr>
            </a:pPr>
            <a:r>
              <a:t>Problem Understanding &amp; Clinical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What are ADRs?: </a:t>
            </a:r>
            <a:r>
              <a:rPr sz="1800">
                <a:solidFill>
                  <a:srgbClr val="2B2D42"/>
                </a:solidFill>
                <a:latin typeface="Segoe UI"/>
              </a:rPr>
              <a:t>Unwanted, harmful, or unintended side effects that occur when a patient takes a medication at normal therapeutic doses.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Why Prediction is Critical: </a:t>
            </a:r>
            <a:r>
              <a:rPr sz="1800">
                <a:solidFill>
                  <a:srgbClr val="2B2D42"/>
                </a:solidFill>
                <a:latin typeface="Segoe UI"/>
              </a:rPr>
              <a:t>Improves patient safety, helps clinicians avoid prescribing risky drugs to vulnerable groups, and reduces emergency hospitalization costs.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Machine Learning Goal: </a:t>
            </a:r>
            <a:r>
              <a:rPr sz="1800">
                <a:solidFill>
                  <a:srgbClr val="2B2D42"/>
                </a:solidFill>
                <a:latin typeface="Segoe UI"/>
              </a:rPr>
              <a:t>Formulated as a binary classification task to predict whether an ADR report represents a 'Serious' or 'Non-Serious' event.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Why Decision Trees?: </a:t>
            </a:r>
            <a:r>
              <a:rPr sz="1800">
                <a:solidFill>
                  <a:srgbClr val="2B2D42"/>
                </a:solidFill>
                <a:latin typeface="Segoe UI"/>
              </a:rPr>
              <a:t>They are highly interpretable. Doctors can audit and trace the exact logical paths ('if-then' rules) that led to a risk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5F73"/>
                </a:solidFill>
                <a:latin typeface="Segoe UI"/>
              </a:defRPr>
            </a:pPr>
            <a:r>
              <a:t>Data Preprocessing &amp;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>
                <a:solidFill>
                  <a:srgbClr val="005F73"/>
                </a:solidFill>
                <a:latin typeface="Segoe UI"/>
              </a:defRPr>
            </a:pPr>
            <a:r>
              <a:t>Handling Messy Data &amp; Binning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Median Age Imputation: </a:t>
            </a:r>
            <a:r>
              <a:rPr sz="1800">
                <a:solidFill>
                  <a:srgbClr val="2B2D42"/>
                </a:solidFill>
                <a:latin typeface="Segoe UI"/>
              </a:rPr>
              <a:t>Missing age values were filled with the median (49) to prevent skewness from outliers.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Demographic Mapping: </a:t>
            </a:r>
            <a:r>
              <a:rPr sz="1800">
                <a:solidFill>
                  <a:srgbClr val="2B2D42"/>
                </a:solidFill>
                <a:latin typeface="Segoe UI"/>
              </a:rPr>
              <a:t>Mapped missing genders as 'Unknown' and standardized codes into 'Male'/'Female'.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Age Cohort Binning: </a:t>
            </a:r>
            <a:r>
              <a:rPr sz="1800">
                <a:solidFill>
                  <a:srgbClr val="2B2D42"/>
                </a:solidFill>
                <a:latin typeface="Segoe UI"/>
              </a:rPr>
              <a:t>Created 5 clinical cohorts: Pediatric (&lt;18), Young Adult, Adult, Middle Aged, and Senior (&gt;65).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>
                <a:solidFill>
                  <a:srgbClr val="005F73"/>
                </a:solidFill>
                <a:latin typeface="Segoe UI"/>
              </a:defRPr>
            </a:pPr>
            <a:r>
              <a:t>Standardization &amp; Encoding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Dosage Form Cleaning: </a:t>
            </a:r>
            <a:r>
              <a:rPr sz="1800">
                <a:solidFill>
                  <a:srgbClr val="2B2D42"/>
                </a:solidFill>
                <a:latin typeface="Segoe UI"/>
              </a:rPr>
              <a:t>Grouped dozens of messy free-text entries into 6 standardized categories: Tablet, Capsule, Injection, Solution, Suspension, Other.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Target Variable Setup: </a:t>
            </a:r>
            <a:r>
              <a:rPr sz="1800">
                <a:solidFill>
                  <a:srgbClr val="2B2D42"/>
                </a:solidFill>
                <a:latin typeface="Segoe UI"/>
              </a:rPr>
              <a:t>Severity was mapped to binary: 1 (Serious event) and 0 (Non-Serious event).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One-Hot Encoding: </a:t>
            </a:r>
            <a:r>
              <a:rPr sz="1800">
                <a:solidFill>
                  <a:srgbClr val="2B2D42"/>
                </a:solidFill>
                <a:latin typeface="Segoe UI"/>
              </a:rPr>
              <a:t>Converted categorical variables (dosage form, country, gender) to columns for tree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5F73"/>
                </a:solidFill>
                <a:latin typeface="Segoe UI"/>
              </a:defRPr>
            </a:pPr>
            <a:r>
              <a:t>Model Pruning &amp; Hyperparameter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>
                <a:solidFill>
                  <a:srgbClr val="005F73"/>
                </a:solidFill>
                <a:latin typeface="Segoe UI"/>
              </a:defRPr>
            </a:pPr>
            <a:r>
              <a:t>Baseline Decision Tree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Tree Depth: </a:t>
            </a:r>
            <a:r>
              <a:rPr sz="1800">
                <a:solidFill>
                  <a:srgbClr val="2B2D42"/>
                </a:solidFill>
                <a:latin typeface="Segoe UI"/>
              </a:rPr>
              <a:t>27 levels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Leaf Nodes: </a:t>
            </a:r>
            <a:r>
              <a:rPr sz="1800">
                <a:solidFill>
                  <a:srgbClr val="2B2D42"/>
                </a:solidFill>
                <a:latin typeface="Segoe UI"/>
              </a:rPr>
              <a:t>176 leaves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Assessment: </a:t>
            </a:r>
            <a:r>
              <a:rPr sz="1800">
                <a:solidFill>
                  <a:srgbClr val="2B2D42"/>
                </a:solidFill>
                <a:latin typeface="Segoe UI"/>
              </a:rPr>
              <a:t>Highly complex model. Overfitted to the training noise, capturing coincidental patterns rather than general clinical trends.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>
                <a:solidFill>
                  <a:srgbClr val="005F73"/>
                </a:solidFill>
                <a:latin typeface="Segoe UI"/>
              </a:defRPr>
            </a:pPr>
            <a:r>
              <a:t>Tuned Tree (GridSearchCV)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Optimized Parameters: </a:t>
            </a:r>
            <a:r>
              <a:rPr sz="1800">
                <a:solidFill>
                  <a:srgbClr val="2B2D42"/>
                </a:solidFill>
                <a:latin typeface="Segoe UI"/>
              </a:rPr>
              <a:t>max_depth=5, min_samples_leaf=8, min_samples_split=2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Tuned Tree Depth: </a:t>
            </a:r>
            <a:r>
              <a:rPr sz="1800">
                <a:solidFill>
                  <a:srgbClr val="2B2D42"/>
                </a:solidFill>
                <a:latin typeface="Segoe UI"/>
              </a:rPr>
              <a:t>5 levels | 22 leaf nodes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Assessment: </a:t>
            </a:r>
            <a:r>
              <a:rPr sz="1800">
                <a:solidFill>
                  <a:srgbClr val="2B2D42"/>
                </a:solidFill>
                <a:latin typeface="Segoe UI"/>
              </a:rPr>
              <a:t>Pruning restricted growth. The model is now highly generalized, robust against noise, and readable by healthcare workers.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5F73"/>
                </a:solidFill>
                <a:latin typeface="Segoe UI"/>
              </a:defRPr>
            </a:pPr>
            <a:r>
              <a:t>Model Performance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Baseline Tree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Tuned Tree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0.8350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0.8350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0.8350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0.8713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0.8713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0.8713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0.7720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0.7720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0.7720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0.8187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0.8187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B2D42"/>
                          </a:solidFill>
                          <a:latin typeface="Segoe UI"/>
                        </a:defRPr>
                      </a:pPr>
                      <a:r>
                        <a:t>0.8187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645920"/>
            <a:ext cx="3730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>
                <a:solidFill>
                  <a:srgbClr val="005F73"/>
                </a:solidFill>
                <a:latin typeface="Segoe UI"/>
              </a:defRPr>
            </a:pPr>
            <a:r>
              <a:t>Key Takeaways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F1-Score Utility: </a:t>
            </a:r>
            <a:r>
              <a:rPr sz="1800">
                <a:solidFill>
                  <a:srgbClr val="2B2D42"/>
                </a:solidFill>
                <a:latin typeface="Segoe UI"/>
              </a:rPr>
              <a:t>Balances Precision and Recall. Essential in healthcare where severity classes are imbalanced; prevents false accuracy ratings.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Identical Scores: </a:t>
            </a:r>
            <a:r>
              <a:rPr sz="1800">
                <a:solidFill>
                  <a:srgbClr val="2B2D42"/>
                </a:solidFill>
                <a:latin typeface="Segoe UI"/>
              </a:rPr>
              <a:t>All models converged to the same performance because target severity is heavily determined by hospitalization and death flags.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5F73"/>
                </a:solidFill>
                <a:latin typeface="Segoe UI"/>
              </a:defRPr>
            </a:pPr>
            <a:r>
              <a:t>Clinical Drivers: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US Reporting Origin (country_clean_US - 46.3%): </a:t>
            </a:r>
            <a:r>
              <a:rPr sz="1800">
                <a:solidFill>
                  <a:srgbClr val="2B2D42"/>
                </a:solidFill>
                <a:latin typeface="Segoe UI"/>
              </a:rPr>
              <a:t>Highly important, reflecting administrative differences or specific safety standards in reports sent to the US FDA.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Hospitalization Flag (hospitalization - 42.4%): </a:t>
            </a:r>
            <a:r>
              <a:rPr sz="1800">
                <a:solidFill>
                  <a:srgbClr val="2B2D42"/>
                </a:solidFill>
                <a:latin typeface="Segoe UI"/>
              </a:rPr>
              <a:t>Strong predictor. Patient admission to the hospital is a direct clinical criterion for classifying an ADR as serious.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Fatal Outcomes (death - 10.7%): </a:t>
            </a:r>
            <a:r>
              <a:rPr sz="1800">
                <a:solidFill>
                  <a:srgbClr val="2B2D42"/>
                </a:solidFill>
                <a:latin typeface="Segoe UI"/>
              </a:rPr>
              <a:t>Important indicator. Fatality represents the highest level of adverse drug reaction severity.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5F73"/>
                </a:solidFill>
                <a:latin typeface="Segoe UI"/>
              </a:rPr>
              <a:t>Patient Demographics (age - 0.5%): </a:t>
            </a:r>
            <a:r>
              <a:rPr sz="1800">
                <a:solidFill>
                  <a:srgbClr val="2B2D42"/>
                </a:solidFill>
                <a:latin typeface="Segoe UI"/>
              </a:rPr>
              <a:t>Has a very minor impact compared to direct clinical outcome indicators (hospitalization/fatality).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94D2BD"/>
                </a:solidFill>
                <a:latin typeface="Segoe UI"/>
              </a:rPr>
              <a:t>Pruning is Essential: </a:t>
            </a:r>
            <a:r>
              <a:rPr sz="1800">
                <a:solidFill>
                  <a:srgbClr val="FFFFFF"/>
                </a:solidFill>
                <a:latin typeface="Segoe UI"/>
              </a:rPr>
              <a:t>Unconstrained decision trees overfit to noise. Hyperparameter tuning (e.g. limiting max_depth) is vital to preserve clinical interpretability.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94D2BD"/>
                </a:solidFill>
                <a:latin typeface="Segoe UI"/>
              </a:rPr>
              <a:t>Safety Monitoring: </a:t>
            </a:r>
            <a:r>
              <a:rPr sz="1800">
                <a:solidFill>
                  <a:srgbClr val="FFFFFF"/>
                </a:solidFill>
                <a:latin typeface="Segoe UI"/>
              </a:rPr>
              <a:t>Standardizing messy free-text data (like drug dosage names) is crucial for pharmacovigilance pipelines to identify true danger flags.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94D2BD"/>
                </a:solidFill>
                <a:latin typeface="Segoe UI"/>
              </a:rPr>
              <a:t>Ensemble Modeling: </a:t>
            </a:r>
            <a:r>
              <a:rPr sz="1800">
                <a:solidFill>
                  <a:srgbClr val="FFFFFF"/>
                </a:solidFill>
                <a:latin typeface="Segoe UI"/>
              </a:rPr>
              <a:t>While a single decision tree is transparent, Random Forest ensembles should be used in complex, non-deterministic healthcare tasks to reduce variance.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